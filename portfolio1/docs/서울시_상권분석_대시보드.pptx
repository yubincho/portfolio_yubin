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1371600"/>
            <a:ext cx="4114800" cy="4114800"/>
          </a:xfrm>
          <a:prstGeom prst="ellipse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71600" y="5029200"/>
            <a:ext cx="3200400" cy="3200400"/>
          </a:xfrm>
          <a:prstGeom prst="ellipse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0" y="3474720"/>
            <a:ext cx="5486400" cy="5486400"/>
          </a:xfrm>
          <a:prstGeom prst="ellipse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09728" cy="4114800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7A7A"/>
                </a:solidFill>
                <a:latin typeface="Noto Sans CJK KR"/>
              </a:rPr>
              <a:t>🏙️ 서울시 상권 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3EAEA"/>
                </a:solidFill>
                <a:latin typeface="Noto Sans CJK KR"/>
              </a:rPr>
              <a:t>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C9B9B9"/>
                </a:solidFill>
                <a:latin typeface="Noto Sans CJK KR"/>
              </a:rPr>
              <a:t>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20440"/>
            <a:ext cx="4114800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BigQuery 실시간 연동  ·  분기별 · 업종별 · 성별 · 시간대 · 주중/주말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A6060"/>
                </a:solidFill>
                <a:latin typeface="Noto Sans CJK KR"/>
              </a:rPr>
              <a:t>데이터 출처: 서울시 상권 매출 통계 | 서울 생활 유동인구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2286000"/>
            <a:ext cx="3017520" cy="475488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96528" y="2304288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B9B9"/>
                </a:solidFill>
                <a:latin typeface="Noto Sans CJK KR"/>
              </a:rPr>
              <a:t>분석 구역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248716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서울 25개 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926080"/>
            <a:ext cx="3017520" cy="475488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6528" y="2944368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B9B9"/>
                </a:solidFill>
                <a:latin typeface="Noto Sans CJK KR"/>
              </a:rPr>
              <a:t>데이터 기간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96528" y="312724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2022 Q1 – 2025 Q3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3566160"/>
            <a:ext cx="3017520" cy="475488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96528" y="3584448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B9B9"/>
                </a:solidFill>
                <a:latin typeface="Noto Sans CJK KR"/>
              </a:rPr>
              <a:t>업종 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6528" y="37673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31개 업종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목차 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서울시 상권 분석 대시보드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5486400" cy="137160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97280"/>
            <a:ext cx="457200" cy="1371600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00200"/>
            <a:ext cx="329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B2626"/>
                </a:solidFill>
                <a:latin typeface="Noto Sans CJK K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1887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EAEA"/>
                </a:solidFill>
                <a:latin typeface="Noto Sans CJK KR"/>
              </a:rPr>
              <a:t>📊 종합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0020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서울 전체 KPI · 구별 매출 지도 · 뜨는 상권 TOP5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486400" cy="137160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97280"/>
            <a:ext cx="457200" cy="1371600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600200"/>
            <a:ext cx="329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B2626"/>
                </a:solidFill>
                <a:latin typeface="Noto Sans CJK K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1887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EAEA"/>
                </a:solidFill>
                <a:latin typeface="Noto Sans CJK KR"/>
              </a:rPr>
              <a:t>📈 분기별 매출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60020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서울 매출 트렌드 · QoQ 증감률 · 매출 vs 유동인구 · 성장 상권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43200"/>
            <a:ext cx="5486400" cy="137160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743200"/>
            <a:ext cx="457200" cy="1371600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246120"/>
            <a:ext cx="329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B2626"/>
                </a:solidFill>
                <a:latin typeface="Noto Sans CJK KR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834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EAEA"/>
                </a:solidFill>
                <a:latin typeface="Noto Sans CJK KR"/>
              </a:rPr>
              <a:t>🏪 업종별 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4612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업종 매출 추이 · 구별 업종 · 뜨는 상권 × 업종 히트맵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743200"/>
            <a:ext cx="5486400" cy="137160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743200"/>
            <a:ext cx="457200" cy="1371600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246120"/>
            <a:ext cx="329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B2626"/>
                </a:solidFill>
                <a:latin typeface="Noto Sans CJK KR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834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EAEA"/>
                </a:solidFill>
                <a:latin typeface="Noto Sans CJK KR"/>
              </a:rPr>
              <a:t>👥 성별 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24612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성별 매출 트렌드 · 구별 성별 · 성별 유동인구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389120"/>
            <a:ext cx="5486400" cy="137160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389120"/>
            <a:ext cx="457200" cy="1371600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4892040"/>
            <a:ext cx="329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B2626"/>
                </a:solidFill>
                <a:latin typeface="Noto Sans CJK KR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8055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EAEA"/>
                </a:solidFill>
                <a:latin typeface="Noto Sans CJK KR"/>
              </a:rPr>
              <a:t>🕐 시간대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8920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시간대별 매출 vs 유동인구 · TOP5 시간대 레이더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389120"/>
            <a:ext cx="5486400" cy="137160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389120"/>
            <a:ext cx="457200" cy="1371600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4892040"/>
            <a:ext cx="329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B2626"/>
                </a:solidFill>
                <a:latin typeface="Noto Sans CJK KR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48055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EAEA"/>
                </a:solidFill>
                <a:latin typeface="Noto Sans CJK KR"/>
              </a:rPr>
              <a:t>📅 주중/주말 분석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8920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주중/주말 분기 추이 · 요일별 패턴 · 매출 vs 유동인구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📊 KPI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서울시 상권 핵심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961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B9B9"/>
                </a:solidFill>
                <a:latin typeface="Noto Sans CJK KR"/>
              </a:rPr>
              <a:t>최신 분기: 2025 Q3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697480" cy="100584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697480" cy="36576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최근 분기 매출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45336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A7A"/>
                </a:solidFill>
                <a:latin typeface="Noto Sans CJK KR"/>
              </a:rPr>
              <a:t>2,510억원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56815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DE80"/>
                </a:solidFill>
                <a:latin typeface="Noto Sans CJK KR"/>
              </a:rPr>
              <a:t>+9.6% QoQ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280160"/>
            <a:ext cx="2697480" cy="100584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0" y="1280160"/>
            <a:ext cx="2697480" cy="36576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전분기 매출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545336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A7A"/>
                </a:solidFill>
                <a:latin typeface="Noto Sans CJK KR"/>
              </a:rPr>
              <a:t>2,290억원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956815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7171"/>
                </a:solidFill>
                <a:latin typeface="Noto Sans CJK KR"/>
              </a:rPr>
              <a:t>-6.6% QoQ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280160"/>
            <a:ext cx="2697480" cy="100584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280160"/>
            <a:ext cx="2697480" cy="36576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평균 QoQ 성장률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545336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A7A"/>
                </a:solidFill>
                <a:latin typeface="Noto Sans CJK KR"/>
              </a:rPr>
              <a:t>+4.8%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956815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7171"/>
                </a:solidFill>
                <a:latin typeface="Noto Sans CJK KR"/>
              </a:rPr>
              <a:t>전체 분기 평균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1280160"/>
            <a:ext cx="2697480" cy="100584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1280160"/>
            <a:ext cx="2697480" cy="36576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B9B9"/>
                </a:solidFill>
                <a:latin typeface="Noto Sans CJK KR"/>
              </a:rPr>
              <a:t>분석 기간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1545336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A7A"/>
                </a:solidFill>
                <a:latin typeface="Noto Sans CJK KR"/>
              </a:rPr>
              <a:t>14개 분기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956815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7171"/>
                </a:solidFill>
                <a:latin typeface="Noto Sans CJK KR"/>
              </a:rPr>
              <a:t>2022 Q2 – 2025 Q3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487168"/>
            <a:ext cx="7498079" cy="384048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2487168"/>
            <a:ext cx="39319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📊 종합 대시보드 – 구별 매출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서울 25개 구 매출 규모 및 뜨는 상권 TOP5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5943600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60120"/>
            <a:ext cx="5577840" cy="534924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058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7A7A"/>
                </a:solidFill>
                <a:latin typeface="Noto Sans CJK KR"/>
              </a:rPr>
              <a:t>🔥 뜨는 상권 TOP5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444752"/>
            <a:ext cx="5212080" cy="56692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7A7A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4904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EAEA"/>
                </a:solidFill>
                <a:latin typeface="Noto Sans CJK KR"/>
              </a:rPr>
              <a:t>성동구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DE80"/>
                </a:solidFill>
                <a:latin typeface="Noto Sans CJK KR"/>
              </a:rPr>
              <a:t>평균 QoQ +22.1%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103120"/>
            <a:ext cx="5212080" cy="56692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12848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7A7A"/>
                </a:solidFill>
                <a:latin typeface="Noto Sans CJK K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14883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EAEA"/>
                </a:solidFill>
                <a:latin typeface="Noto Sans CJK KR"/>
              </a:rPr>
              <a:t>마포구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37743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DE80"/>
                </a:solidFill>
                <a:latin typeface="Noto Sans CJK KR"/>
              </a:rPr>
              <a:t>평균 QoQ +18.4%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2761488"/>
            <a:ext cx="5212080" cy="56692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871216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7A7A"/>
                </a:solidFill>
                <a:latin typeface="Noto Sans CJK K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8072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EAEA"/>
                </a:solidFill>
                <a:latin typeface="Noto Sans CJK KR"/>
              </a:rPr>
              <a:t>동작구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30358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DE80"/>
                </a:solidFill>
                <a:latin typeface="Noto Sans CJK KR"/>
              </a:rPr>
              <a:t>평균 QoQ +15.9%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3419856"/>
            <a:ext cx="5212080" cy="56692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529584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7A7A"/>
                </a:solidFill>
                <a:latin typeface="Noto Sans CJK K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34655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EAEA"/>
                </a:solidFill>
                <a:latin typeface="Noto Sans CJK KR"/>
              </a:rPr>
              <a:t>광진구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69417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DE80"/>
                </a:solidFill>
                <a:latin typeface="Noto Sans CJK KR"/>
              </a:rPr>
              <a:t>평균 QoQ +13.7%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4078224"/>
            <a:ext cx="5212080" cy="56692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187952"/>
            <a:ext cx="320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7A7A"/>
                </a:solidFill>
                <a:latin typeface="Noto Sans CJK K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12394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EAEA"/>
                </a:solidFill>
                <a:latin typeface="Noto Sans CJK KR"/>
              </a:rPr>
              <a:t>양천구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3525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DE80"/>
                </a:solidFill>
                <a:latin typeface="Noto Sans CJK KR"/>
              </a:rPr>
              <a:t>평균 QoQ +11.2%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4846320"/>
            <a:ext cx="5212080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9834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B9B9"/>
                </a:solidFill>
                <a:latin typeface="Noto Sans CJK KR"/>
              </a:rPr>
              <a:t>● 원 크기 = 매출 규모   ● 테두리 = 뜨는 상권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52578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A6060"/>
                </a:solidFill>
                <a:latin typeface="Noto Sans CJK KR"/>
              </a:rPr>
              <a:t>데이터: BigQuery 실시간 연동 (서울 생활 유동인구·상권 매출)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📈 분기별 매출 분석 ①  –  매출 트렌드 &amp; QoQ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서울시 전체 상권 분기별 매출 추이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7132320" cy="347472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572000"/>
            <a:ext cx="7132320" cy="2148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589520" y="960120"/>
            <a:ext cx="4389120" cy="576072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0241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7A7A"/>
                </a:solidFill>
                <a:latin typeface="Noto Sans CJK KR"/>
              </a:rPr>
              <a:t>📌 주요 인사이트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508760"/>
            <a:ext cx="4023360" cy="65836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508760"/>
            <a:ext cx="54864" cy="65836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53619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2025 Q3: 서울 최고 매출 달성 (2,510억)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286000"/>
            <a:ext cx="4023360" cy="65836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2286000"/>
            <a:ext cx="54864" cy="65836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31343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평균 QoQ 성장률 +4.8% (지속 성장)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3063239"/>
            <a:ext cx="4023360" cy="65836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3063239"/>
            <a:ext cx="54864" cy="65836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9560" y="309067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2024 Q4 일시 하락 후 V자 반등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840479"/>
            <a:ext cx="4023360" cy="65836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3840479"/>
            <a:ext cx="54864" cy="65836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3867911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2023 Q3 → 연간 최고점 패턴 반복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4617720"/>
            <a:ext cx="4023360" cy="65836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0" y="4617720"/>
            <a:ext cx="54864" cy="65836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464515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유동인구 증가와 매출 높은 상관관계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📈 분기별 매출 분석 ②  –  상권 효율 &amp; 성장 상권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인당 평균 매출 기준 상위 10개 구 / 장기 성장 &amp; 최근 뜨는 상권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5577840" cy="534924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960120"/>
            <a:ext cx="5852160" cy="29260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4023360"/>
            <a:ext cx="585216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🏪 업종별 분석  –  서울 전체 업종 트렌드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주요 업종별 분기별 매출 추이 및 최근 분기 업종 비중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7132320" cy="3657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960120"/>
            <a:ext cx="43891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754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업종별 매출 순위 (최근 분기)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1023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7A7A"/>
                </a:solidFill>
                <a:latin typeface="Noto Sans CJK KR"/>
              </a:rPr>
              <a:t>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0235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7A7A"/>
                </a:solidFill>
                <a:latin typeface="Noto Sans CJK KR"/>
              </a:rPr>
              <a:t>업종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51023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7A7A"/>
                </a:solidFill>
                <a:latin typeface="Noto Sans CJK KR"/>
              </a:rPr>
              <a:t>매출(억)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51023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7A7A"/>
                </a:solidFill>
                <a:latin typeface="Noto Sans CJK KR"/>
              </a:rPr>
              <a:t>비중(%)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13248"/>
            <a:ext cx="5577840" cy="292608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543153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3153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한식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4315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380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4315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29.9%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733288"/>
            <a:ext cx="5577840" cy="29260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751575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51575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카페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575157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260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75157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20.5%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6053328"/>
            <a:ext cx="5577840" cy="292608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71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07161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의류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071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195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071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15.4%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373368"/>
            <a:ext cx="5577840" cy="29260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391655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391655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편의점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3916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63916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13.4%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6693408"/>
            <a:ext cx="5577840" cy="292608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71169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7116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주점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67116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145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7116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11.4%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7013448"/>
            <a:ext cx="5577840" cy="292608"/>
          </a:xfrm>
          <a:prstGeom prst="rect">
            <a:avLst/>
          </a:prstGeom>
          <a:solidFill>
            <a:srgbClr val="3A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703173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703173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미용실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70317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120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70317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3EAEA"/>
                </a:solidFill>
                <a:latin typeface="Noto Sans CJK KR"/>
              </a:rPr>
              <a:t>9.4%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🏪 업종별 분석  –  뜨는 상권 × 업종 히트맵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최근 분기 뜨는 상권 TOP5 × 주요 업종 매출 교차 분석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77724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960120"/>
            <a:ext cx="3749039" cy="365760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0241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A7A"/>
                </a:solidFill>
                <a:latin typeface="Noto Sans CJK KR"/>
              </a:rPr>
              <a:t>📌 히트맵 읽는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🟡 밝은 노란색 = 최고 매출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98424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🟠 오렌지     = 높은 매출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45973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🟣 핫핑크     = 중상위 매출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93522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💜 딥퍼플     = 중하위 매출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1071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3EAEA"/>
                </a:solidFill>
                <a:latin typeface="Noto Sans CJK KR"/>
              </a:rPr>
              <a:t>⬛ 거의 검정  = 낮은 매출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709160"/>
            <a:ext cx="11612880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👥 성별 분석  –  서울 전체 성별 트렌드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남성/여성 분기별 매출 추이 및 성별 매출 비율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7498079" cy="3657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960120"/>
            <a:ext cx="3931920" cy="3657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709160"/>
            <a:ext cx="11612880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🕐 시간대 분석  –  매출 &amp; 유동인구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시간대별 매출 vs 유동인구 비교 / 뜨는 상권 TOP5 시간대 패턴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7132320" cy="3657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960120"/>
            <a:ext cx="4389120" cy="3657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709160"/>
            <a:ext cx="11612880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2188952" cy="41148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48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7A7A"/>
                </a:solidFill>
                <a:latin typeface="Noto Sans CJK KR"/>
              </a:rPr>
              <a:t>📅 주중 / 주말 분석  –  요일별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B9B9"/>
                </a:solidFill>
                <a:latin typeface="Noto Sans CJK KR"/>
              </a:rPr>
              <a:t>주중/주말 분기 추이 · 요일별 유동인구 · 주중 매출 vs 유동인구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7132320" cy="32004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960120"/>
            <a:ext cx="4389120" cy="3200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315968"/>
            <a:ext cx="5669280" cy="242316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315968"/>
            <a:ext cx="594360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06140"/>
            <a:ext cx="12188952" cy="45720"/>
          </a:xfrm>
          <a:prstGeom prst="rect">
            <a:avLst/>
          </a:prstGeom>
          <a:solidFill>
            <a:srgbClr val="FF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7A7A"/>
                </a:solidFill>
                <a:latin typeface="Noto Sans CJK KR"/>
              </a:rPr>
              <a:t>🏙️ 서울시 상권 분석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9B9B9"/>
                </a:solidFill>
                <a:latin typeface="Noto Sans CJK KR"/>
              </a:rPr>
              <a:t>BigQuery 실시간 연동 | Streamlit 대시보드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657600"/>
            <a:ext cx="3657600" cy="118872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7307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3EAEA"/>
                </a:solidFill>
                <a:latin typeface="Noto Sans CJK KR"/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490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종합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965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B9B9"/>
                </a:solidFill>
                <a:latin typeface="Noto Sans CJK KR"/>
              </a:rPr>
              <a:t>구별 매출 지도 + 인터랙티브 상세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657600"/>
            <a:ext cx="3657600" cy="118872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7307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3EAEA"/>
                </a:solidFill>
                <a:latin typeface="Noto Sans CJK KR"/>
              </a:rP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7490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분기별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0965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B9B9"/>
                </a:solidFill>
                <a:latin typeface="Noto Sans CJK KR"/>
              </a:rPr>
              <a:t>매출 트렌드·QoQ·성장 상권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657600"/>
            <a:ext cx="3657600" cy="118872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7307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3EAEA"/>
                </a:solidFill>
                <a:latin typeface="Noto Sans CJK KR"/>
              </a:rPr>
              <a:t>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37490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업종별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40965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B9B9"/>
                </a:solidFill>
                <a:latin typeface="Noto Sans CJK KR"/>
              </a:rPr>
              <a:t>업종 추이·히트맵 교차 분석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029200"/>
            <a:ext cx="3657600" cy="118872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023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3EAEA"/>
                </a:solidFill>
                <a:latin typeface="Noto Sans CJK KR"/>
              </a:rPr>
              <a:t>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120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성별 분석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4681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B9B9"/>
                </a:solidFill>
                <a:latin typeface="Noto Sans CJK KR"/>
              </a:rPr>
              <a:t>남/여 매출 트렌드·비율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5029200"/>
            <a:ext cx="3657600" cy="118872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51023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3EAEA"/>
                </a:solidFill>
                <a:latin typeface="Noto Sans CJK KR"/>
              </a:rPr>
              <a:t>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5120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시간대 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4681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B9B9"/>
                </a:solidFill>
                <a:latin typeface="Noto Sans CJK KR"/>
              </a:rPr>
              <a:t>매출·유동인구·레이더 패턴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5029200"/>
            <a:ext cx="3657600" cy="1188720"/>
          </a:xfrm>
          <a:prstGeom prst="rect">
            <a:avLst/>
          </a:prstGeom>
          <a:solidFill>
            <a:srgbClr val="34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51023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3EAEA"/>
                </a:solidFill>
                <a:latin typeface="Noto Sans CJK KR"/>
              </a:rPr>
              <a:t>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5120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7A"/>
                </a:solidFill>
                <a:latin typeface="Noto Sans CJK KR"/>
              </a:rPr>
              <a:t>주중/주말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54681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B9B9"/>
                </a:solidFill>
                <a:latin typeface="Noto Sans CJK KR"/>
              </a:rPr>
              <a:t>요일별 패턴·트렌드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A6060"/>
                </a:solidFill>
                <a:latin typeface="Noto Sans CJK KR"/>
              </a:rPr>
              <a:t>데이터 출처: 서울시 상권 매출 통계 / 서울 생활 유동인구  |  BigQuery: smart-paratext-486618-v8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