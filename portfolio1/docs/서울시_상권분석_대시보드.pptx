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950"/>
  <p:notesSz cx="6858000" cy="9144000"/>
  <p:embeddedFontLst>
    <p:embeddedFont>
      <p:font typeface="No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s6k30IvghhLTdTDc3zvcwYid8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No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bold.fntdata"/><Relationship Id="rId6" Type="http://schemas.openxmlformats.org/officeDocument/2006/relationships/slide" Target="slides/slide1.xml"/><Relationship Id="rId18" Type="http://schemas.openxmlformats.org/officeDocument/2006/relationships/font" Target="fonts/No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A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601200" y="1371600"/>
            <a:ext cx="4114800" cy="4114800"/>
          </a:xfrm>
          <a:prstGeom prst="ellipse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371600" y="5029200"/>
            <a:ext cx="3200400" cy="3200400"/>
          </a:xfrm>
          <a:prstGeom prst="ellipse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400800" y="3474720"/>
            <a:ext cx="5486400" cy="5486400"/>
          </a:xfrm>
          <a:prstGeom prst="ellipse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57200" y="1097280"/>
            <a:ext cx="109728" cy="41148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77240" y="118872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🏙️ 서울시 상권 분석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77240" y="2057400"/>
            <a:ext cx="8686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대시보드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27889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Dashboard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777240" y="3520440"/>
            <a:ext cx="4114800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3703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BigQuery 실시간 연동  ·  분기별 · 업종별 · 성별 · 시간대 · 주중/주말 분석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4114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6060"/>
                </a:solidFill>
                <a:latin typeface="Noto Sans"/>
                <a:ea typeface="Noto Sans"/>
                <a:cs typeface="Noto Sans"/>
                <a:sym typeface="Noto Sans"/>
              </a:rPr>
              <a:t>데이터 출처: 서울시 상권 매출 통계 | 서울 생활 유동인구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8686800" y="2286000"/>
            <a:ext cx="3017520" cy="475488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796528" y="230428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분석 구역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796528" y="24871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서울 25개 구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686800" y="2926080"/>
            <a:ext cx="3017520" cy="475488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796528" y="294436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데이터 기간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796528" y="31272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2022 Q1 – 2025 Q3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686800" y="3566160"/>
            <a:ext cx="3017520" cy="475488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796528" y="358444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업종 수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8796528" y="376732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31개 업종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목차  Contents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서울시 상권 분석 대시보드 구성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11480" y="1097280"/>
            <a:ext cx="5486400" cy="1371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11480" y="1097280"/>
            <a:ext cx="457200" cy="13716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75488" y="1600200"/>
            <a:ext cx="329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62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960120" y="11887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📊 종합 대시보드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960120" y="160020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서울 전체 KPI · 구별 매출 지도 · 뜨는 상권 TOP5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6309360" y="1097280"/>
            <a:ext cx="5486400" cy="1371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309360" y="1097280"/>
            <a:ext cx="457200" cy="13716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373368" y="1600200"/>
            <a:ext cx="329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626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858000" y="11887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📈 분기별 매출 분석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858000" y="160020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서울 매출 트렌드 · QoQ 증감률 · 매출 vs 유동인구 · 성장 상권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11480" y="2743200"/>
            <a:ext cx="5486400" cy="1371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411480" y="2743200"/>
            <a:ext cx="457200" cy="13716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475488" y="3246120"/>
            <a:ext cx="329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626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60120" y="28346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🏪 업종별 분석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60120" y="324612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업종 매출 추이 · 구별 업종 · 뜨는 상권 × 업종 히트맵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6309360" y="2743200"/>
            <a:ext cx="5486400" cy="1371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309360" y="2743200"/>
            <a:ext cx="457200" cy="13716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373368" y="3246120"/>
            <a:ext cx="329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626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858000" y="28346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👥 성별 분석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6858000" y="324612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성별 매출 트렌드 · 구별 성별 · 성별 유동인구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411480" y="4389120"/>
            <a:ext cx="5486400" cy="1371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411480" y="4389120"/>
            <a:ext cx="457200" cy="13716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475488" y="4892040"/>
            <a:ext cx="329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626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960120" y="4480559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🕐 시간대 분석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960120" y="48920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시간대별 매출 vs 유동인구 · TOP5 시간대 레이더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6309360" y="4389120"/>
            <a:ext cx="5486400" cy="1371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309360" y="4389120"/>
            <a:ext cx="457200" cy="137160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373368" y="4892040"/>
            <a:ext cx="329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2626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858000" y="4480559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📅 주중/주말 분석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858000" y="48920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주중/주말 분기 추이 · 요일별 패턴 · 매출 vs 유동인구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📊 KPI 요약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서울시 상권 핵심 지표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320040" y="89611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최신 분기: 2025 Q3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274320" y="1280160"/>
            <a:ext cx="2697480" cy="100584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74320" y="1280160"/>
            <a:ext cx="2697480" cy="36576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365760" y="13441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최근 분기 매출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365760" y="1545336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2,510억원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365760" y="1956815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Noto Sans"/>
                <a:ea typeface="Noto Sans"/>
                <a:cs typeface="Noto Sans"/>
                <a:sym typeface="Noto Sans"/>
              </a:rPr>
              <a:t>+9.6% QoQ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3200400" y="1280160"/>
            <a:ext cx="2697480" cy="100584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200400" y="1280160"/>
            <a:ext cx="2697480" cy="36576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3291840" y="13441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전분기 매출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3291840" y="1545336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2,290억원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3291840" y="1956815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7171"/>
                </a:solidFill>
                <a:latin typeface="Noto Sans"/>
                <a:ea typeface="Noto Sans"/>
                <a:cs typeface="Noto Sans"/>
                <a:sym typeface="Noto Sans"/>
              </a:rPr>
              <a:t>-6.6% QoQ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6126480" y="1280160"/>
            <a:ext cx="2697480" cy="100584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126480" y="1280160"/>
            <a:ext cx="2697480" cy="36576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6217920" y="13441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평균 QoQ 성장률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6217920" y="1545336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+4.8%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6217920" y="1956815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7171"/>
                </a:solidFill>
                <a:latin typeface="Noto Sans"/>
                <a:ea typeface="Noto Sans"/>
                <a:cs typeface="Noto Sans"/>
                <a:sym typeface="Noto Sans"/>
              </a:rPr>
              <a:t>전체 분기 평균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9052560" y="1280160"/>
            <a:ext cx="2697480" cy="100584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9052560" y="1280160"/>
            <a:ext cx="2697480" cy="36576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9144000" y="134416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분석 기간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9144000" y="1545336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14개 분기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9144000" y="1956815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87171"/>
                </a:solidFill>
                <a:latin typeface="Noto Sans"/>
                <a:ea typeface="Noto Sans"/>
                <a:cs typeface="Noto Sans"/>
                <a:sym typeface="Noto Sans"/>
              </a:rPr>
              <a:t>2022 Q2 – 2025 Q3</a:t>
            </a:r>
            <a:endParaRPr/>
          </a:p>
        </p:txBody>
      </p:sp>
      <p:pic>
        <p:nvPicPr>
          <p:cNvPr descr="image.png"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487168"/>
            <a:ext cx="7498079" cy="3840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79" y="2487168"/>
            <a:ext cx="3931920" cy="384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📊 종합 대시보드 – 구별 매출 분포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서울 25개 구 매출 규모 및 뜨는 상권 TOP5</a:t>
            </a:r>
            <a:endParaRPr/>
          </a:p>
        </p:txBody>
      </p:sp>
      <p:pic>
        <p:nvPicPr>
          <p:cNvPr descr="image.png" id="178" name="Google Shape;1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5943600" cy="5349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/>
          <p:nvPr/>
        </p:nvSpPr>
        <p:spPr>
          <a:xfrm>
            <a:off x="6400800" y="960120"/>
            <a:ext cx="5577840" cy="534924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6537960" y="100584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🔥 뜨는 상권 TOP5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6537960" y="1444752"/>
            <a:ext cx="5212080" cy="56692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6629400" y="1554480"/>
            <a:ext cx="320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6995160" y="14904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성동구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6995160" y="17190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Noto Sans"/>
                <a:ea typeface="Noto Sans"/>
                <a:cs typeface="Noto Sans"/>
                <a:sym typeface="Noto Sans"/>
              </a:rPr>
              <a:t>평균 QoQ +22.1%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6537960" y="2103120"/>
            <a:ext cx="5212080" cy="56692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629400" y="2212848"/>
            <a:ext cx="320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995160" y="214883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마포구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6995160" y="2377439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Noto Sans"/>
                <a:ea typeface="Noto Sans"/>
                <a:cs typeface="Noto Sans"/>
                <a:sym typeface="Noto Sans"/>
              </a:rPr>
              <a:t>평균 QoQ +18.4%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6537960" y="2761488"/>
            <a:ext cx="5212080" cy="56692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6629400" y="2871216"/>
            <a:ext cx="320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6995160" y="28072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동작구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6995160" y="30358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Noto Sans"/>
                <a:ea typeface="Noto Sans"/>
                <a:cs typeface="Noto Sans"/>
                <a:sym typeface="Noto Sans"/>
              </a:rPr>
              <a:t>평균 QoQ +15.9%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6537960" y="3419856"/>
            <a:ext cx="5212080" cy="56692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6629400" y="3529584"/>
            <a:ext cx="320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6995160" y="346557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광진구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995160" y="369417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Noto Sans"/>
                <a:ea typeface="Noto Sans"/>
                <a:cs typeface="Noto Sans"/>
                <a:sym typeface="Noto Sans"/>
              </a:rPr>
              <a:t>평균 QoQ +13.7%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6537960" y="4078224"/>
            <a:ext cx="5212080" cy="56692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6629400" y="4187952"/>
            <a:ext cx="320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6995160" y="41239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양천구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6995160" y="435254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DE80"/>
                </a:solidFill>
                <a:latin typeface="Noto Sans"/>
                <a:ea typeface="Noto Sans"/>
                <a:cs typeface="Noto Sans"/>
                <a:sym typeface="Noto Sans"/>
              </a:rPr>
              <a:t>평균 QoQ +11.2%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6537960" y="4846320"/>
            <a:ext cx="5212080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6537960" y="49834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● 원 크기 = 매출 규모   ● 테두리 = 뜨는 상권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6537960" y="525780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A6060"/>
                </a:solidFill>
                <a:latin typeface="Noto Sans"/>
                <a:ea typeface="Noto Sans"/>
                <a:cs typeface="Noto Sans"/>
                <a:sym typeface="Noto Sans"/>
              </a:rPr>
              <a:t>데이터: BigQuery 실시간 연동 (서울 생활 유동인구·상권 매출)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📈 분기별 매출 분석 ①  –  매출 트렌드 &amp; QoQ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서울시 전체 상권 분기별 매출 추이</a:t>
            </a:r>
            <a:endParaRPr/>
          </a:p>
        </p:txBody>
      </p:sp>
      <p:pic>
        <p:nvPicPr>
          <p:cNvPr descr="image.png" id="211" name="Google Shape;2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7132320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4572000"/>
            <a:ext cx="713232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7589520" y="960120"/>
            <a:ext cx="4389120" cy="5760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772400" y="10241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📌 주요 인사이트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7772400" y="1508760"/>
            <a:ext cx="4023360" cy="65836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7772400" y="1508760"/>
            <a:ext cx="54864" cy="65836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7909560" y="1536192"/>
            <a:ext cx="37490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2025 Q3: 서울 최고 매출 달성 (2,510억)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7772400" y="2286000"/>
            <a:ext cx="4023360" cy="65836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7772400" y="2286000"/>
            <a:ext cx="54864" cy="65836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7909560" y="2313432"/>
            <a:ext cx="37490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평균 QoQ 성장률 +4.8% (지속 성장)</a:t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7772400" y="3063239"/>
            <a:ext cx="4023360" cy="65836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7772400" y="3063239"/>
            <a:ext cx="54864" cy="65836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7909560" y="3090672"/>
            <a:ext cx="37490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2024 Q4 일시 하락 후 V자 반등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7772400" y="3840479"/>
            <a:ext cx="4023360" cy="65836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772400" y="3840479"/>
            <a:ext cx="54864" cy="65836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7909560" y="3867911"/>
            <a:ext cx="37490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2023 Q3 → 연간 최고점 패턴 반복</a:t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7772400" y="4617720"/>
            <a:ext cx="4023360" cy="65836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7772400" y="4617720"/>
            <a:ext cx="54864" cy="65836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7909560" y="4645152"/>
            <a:ext cx="37490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유동인구 증가와 매출 높은 상관관계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📈 분기별 매출 분석 ②  –  상권 효율 &amp; 성장 상권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인당 평균 매출 기준 상위 10개 구 / 장기 성장 &amp; 최근 뜨는 상권</a:t>
            </a:r>
            <a:endParaRPr/>
          </a:p>
        </p:txBody>
      </p:sp>
      <p:pic>
        <p:nvPicPr>
          <p:cNvPr descr="image.png" id="237" name="Google Shape;2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5577840" cy="5349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960120"/>
            <a:ext cx="585216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5040" y="4023360"/>
            <a:ext cx="585216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🏪 업종별 분석  –  서울 전체 업종 트렌드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주요 업종별 분기별 매출 추이 및 최근 분기 업종 비중</a:t>
            </a:r>
            <a:endParaRPr/>
          </a:p>
        </p:txBody>
      </p:sp>
      <p:pic>
        <p:nvPicPr>
          <p:cNvPr descr="image.png"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713232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79" y="960120"/>
            <a:ext cx="438912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"/>
          <p:cNvSpPr txBox="1"/>
          <p:nvPr/>
        </p:nvSpPr>
        <p:spPr>
          <a:xfrm>
            <a:off x="274320" y="4754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업종별 매출 순위 (최근 분기)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274320" y="51023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순위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731520" y="510235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업종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2926080" y="51023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매출(억)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4297680" y="51023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비중(%)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274320" y="5413248"/>
            <a:ext cx="5577840" cy="292608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274320" y="543153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731520" y="543153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한식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2926080" y="54315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380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4297680" y="54315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29.9%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274320" y="5733288"/>
            <a:ext cx="5577840" cy="29260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274320" y="5751575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731520" y="5751575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카페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2926080" y="575157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260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4297680" y="575157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20.5%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274320" y="6053328"/>
            <a:ext cx="5577840" cy="292608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274320" y="607161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731520" y="607161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의류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2926080" y="607161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195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4297680" y="607161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15.4%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274320" y="6373368"/>
            <a:ext cx="5577840" cy="29260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274320" y="6391655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731520" y="6391655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편의점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2926080" y="639165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170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4297680" y="6391655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13.4%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274320" y="6693408"/>
            <a:ext cx="5577840" cy="292608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274320" y="671169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731520" y="671169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주점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2926080" y="67116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145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4297680" y="67116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11.4%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274320" y="7013448"/>
            <a:ext cx="5577840" cy="292608"/>
          </a:xfrm>
          <a:prstGeom prst="rect">
            <a:avLst/>
          </a:prstGeom>
          <a:solidFill>
            <a:srgbClr val="3A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274320" y="703173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731520" y="703173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미용실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2926080" y="70317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120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4297680" y="70317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9.4%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🏪 업종별 분석  –  뜨는 상권 × 업종 히트맵</a:t>
            </a:r>
            <a:endParaRPr/>
          </a:p>
        </p:txBody>
      </p:sp>
      <p:sp>
        <p:nvSpPr>
          <p:cNvPr id="290" name="Google Shape;290;p8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최근 분기 뜨는 상권 TOP5 × 주요 업종 매출 교차 분석</a:t>
            </a:r>
            <a:endParaRPr/>
          </a:p>
        </p:txBody>
      </p:sp>
      <p:pic>
        <p:nvPicPr>
          <p:cNvPr descr="image.png" id="291" name="Google Shape;2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7772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8229600" y="960120"/>
            <a:ext cx="3749039" cy="365760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8366760" y="102412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📌 히트맵 읽는 법</a:t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8366760" y="1508760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🟡 밝은 노란색 = 최고 매출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8366760" y="1984248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🟠 오렌지     = 높은 매출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8366760" y="245973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🟣 핫핑크     = 중상위 매출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8366760" y="2935224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💜 딥퍼플     = 중하위 매출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8366760" y="341071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⬛ 거의 검정  = 낮은 매출</a:t>
            </a:r>
            <a:endParaRPr/>
          </a:p>
        </p:txBody>
      </p:sp>
      <p:pic>
        <p:nvPicPr>
          <p:cNvPr descr="image.png" id="299" name="Google Shape;2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4709160"/>
            <a:ext cx="11612880" cy="202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👥 성별 분석  –  서울 전체 성별 트렌드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남성/여성 분기별 매출 추이 및 성별 매출 비율</a:t>
            </a:r>
            <a:endParaRPr/>
          </a:p>
        </p:txBody>
      </p:sp>
      <p:pic>
        <p:nvPicPr>
          <p:cNvPr descr="image.png" id="307" name="Google Shape;3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7498079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79" y="960120"/>
            <a:ext cx="393192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" y="4709160"/>
            <a:ext cx="11612880" cy="202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🕐 시간대 분석  –  매출 &amp; 유동인구 패턴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시간대별 매출 vs 유동인구 비교 / 뜨는 상권 TOP5 시간대 패턴</a:t>
            </a:r>
            <a:endParaRPr/>
          </a:p>
        </p:txBody>
      </p:sp>
      <p:pic>
        <p:nvPicPr>
          <p:cNvPr descr="image.png" id="317" name="Google Shape;3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713232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9520" y="960120"/>
            <a:ext cx="438912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" y="4709160"/>
            <a:ext cx="11612880" cy="202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0" y="566928"/>
            <a:ext cx="12188952" cy="41148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20040" y="109728"/>
            <a:ext cx="11548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📅 주중 / 주말 분석  –  요일별 패턴</a:t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320040" y="566928"/>
            <a:ext cx="11548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주중/주말 분기 추이 · 요일별 유동인구 · 주중 매출 vs 유동인구</a:t>
            </a:r>
            <a:endParaRPr/>
          </a:p>
        </p:txBody>
      </p:sp>
      <p:pic>
        <p:nvPicPr>
          <p:cNvPr descr="image.png" id="327" name="Google Shape;3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713232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9520" y="960120"/>
            <a:ext cx="438912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" y="4315968"/>
            <a:ext cx="5669280" cy="242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5040" y="4315968"/>
            <a:ext cx="5943600" cy="242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626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A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0" y="3406140"/>
            <a:ext cx="12188952" cy="45720"/>
          </a:xfrm>
          <a:prstGeom prst="rect">
            <a:avLst/>
          </a:prstGeom>
          <a:solidFill>
            <a:srgbClr val="FF7A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🏙️ 서울시 상권 분석 대시보드</a:t>
            </a:r>
            <a:endParaRPr/>
          </a:p>
        </p:txBody>
      </p:sp>
      <p:sp>
        <p:nvSpPr>
          <p:cNvPr id="338" name="Google Shape;338;p12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BigQuery 실시간 연동 | Streamlit 대시보드</a:t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365760" y="3657600"/>
            <a:ext cx="3657600" cy="1188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502920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📊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960120" y="3749039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종합 대시보드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960120" y="40965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구별 매출 지도 + 인터랙티브 상세</a:t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297680" y="3657600"/>
            <a:ext cx="3657600" cy="1188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4434840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📈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4892040" y="3749039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분기별 분석</a:t>
            </a:r>
            <a:endParaRPr/>
          </a:p>
        </p:txBody>
      </p:sp>
      <p:sp>
        <p:nvSpPr>
          <p:cNvPr id="346" name="Google Shape;346;p12"/>
          <p:cNvSpPr txBox="1"/>
          <p:nvPr/>
        </p:nvSpPr>
        <p:spPr>
          <a:xfrm>
            <a:off x="4892040" y="40965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매출 트렌드·QoQ·성장 상권</a:t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8229600" y="3657600"/>
            <a:ext cx="3657600" cy="1188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8366760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🏪</a:t>
            </a:r>
            <a:endParaRPr/>
          </a:p>
        </p:txBody>
      </p:sp>
      <p:sp>
        <p:nvSpPr>
          <p:cNvPr id="349" name="Google Shape;349;p12"/>
          <p:cNvSpPr txBox="1"/>
          <p:nvPr/>
        </p:nvSpPr>
        <p:spPr>
          <a:xfrm>
            <a:off x="8823960" y="3749039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업종별 분석</a:t>
            </a:r>
            <a:endParaRPr/>
          </a:p>
        </p:txBody>
      </p:sp>
      <p:sp>
        <p:nvSpPr>
          <p:cNvPr id="350" name="Google Shape;350;p12"/>
          <p:cNvSpPr txBox="1"/>
          <p:nvPr/>
        </p:nvSpPr>
        <p:spPr>
          <a:xfrm>
            <a:off x="8823960" y="40965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업종 추이·히트맵 교차 분석</a:t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65760" y="5029200"/>
            <a:ext cx="3657600" cy="1188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02920" y="5102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👥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960120" y="51206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성별 분석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960120" y="5468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남/여 매출 트렌드·비율</a:t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297680" y="5029200"/>
            <a:ext cx="3657600" cy="1188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4434840" y="5102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🕐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4892040" y="51206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시간대 분석</a:t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4892040" y="5468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매출·유동인구·레이더 패턴</a:t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8229600" y="5029200"/>
            <a:ext cx="3657600" cy="1188720"/>
          </a:xfrm>
          <a:prstGeom prst="rect">
            <a:avLst/>
          </a:prstGeom>
          <a:solidFill>
            <a:srgbClr val="342F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8366760" y="5102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3EAEA"/>
                </a:solidFill>
                <a:latin typeface="Noto Sans"/>
                <a:ea typeface="Noto Sans"/>
                <a:cs typeface="Noto Sans"/>
                <a:sym typeface="Noto Sans"/>
              </a:rPr>
              <a:t>📅</a:t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8823960" y="51206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A7A"/>
                </a:solidFill>
                <a:latin typeface="Noto Sans"/>
                <a:ea typeface="Noto Sans"/>
                <a:cs typeface="Noto Sans"/>
                <a:sym typeface="Noto Sans"/>
              </a:rPr>
              <a:t>주중/주말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8823960" y="5468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9B9B9"/>
                </a:solidFill>
                <a:latin typeface="Noto Sans"/>
                <a:ea typeface="Noto Sans"/>
                <a:cs typeface="Noto Sans"/>
                <a:sym typeface="Noto Sans"/>
              </a:rPr>
              <a:t>요일별 패턴·트렌드</a:t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A6060"/>
                </a:solidFill>
                <a:latin typeface="Noto Sans"/>
                <a:ea typeface="Noto Sans"/>
                <a:cs typeface="Noto Sans"/>
                <a:sym typeface="Noto Sans"/>
              </a:rPr>
              <a:t>데이터 출처: 서울시 상권 매출 통계 / 서울 생활 유동인구  |  BigQuery: smart-paratext-486618-v8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