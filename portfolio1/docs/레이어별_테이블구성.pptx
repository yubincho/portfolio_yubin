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29768"/>
            <a:ext cx="54864" cy="4279392"/>
          </a:xfrm>
          <a:prstGeom prst="rect">
            <a:avLst/>
          </a:prstGeom>
          <a:solidFill>
            <a:srgbClr val="FF5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</a:rPr>
              <a:t>레이어별 테이블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505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</a:rPr>
              <a:t>(Raw → Staging → Mart)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463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5733"/>
                </a:solidFill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Seoul Commercial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3931920"/>
            <a:ext cx="1463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5733"/>
                </a:solidFill>
              </a:rPr>
              <a:t>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41148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Data Architecture &amp;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429768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931920"/>
            <a:ext cx="1463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5733"/>
                </a:solidFill>
              </a:rPr>
              <a:t>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41148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3-Layer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429768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BigQuery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79" y="3931920"/>
            <a:ext cx="1463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5733"/>
                </a:solidFill>
              </a:rPr>
              <a:t>Tables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79" y="41148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5 Raw · 3 Staging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79" y="429768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12 Mart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754880"/>
            <a:ext cx="8001000" cy="3200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754880"/>
            <a:ext cx="8001000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9768"/>
            <a:ext cx="8001000" cy="566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996696"/>
            <a:ext cx="800100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</a:rPr>
              <a:t>Raw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2331720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14300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테이블명</a:t>
            </a:r>
          </a:p>
        </p:txBody>
      </p:sp>
      <p:sp>
        <p:nvSpPr>
          <p:cNvPr id="7" name="Rectangle 6"/>
          <p:cNvSpPr/>
          <p:nvPr/>
        </p:nvSpPr>
        <p:spPr>
          <a:xfrm>
            <a:off x="2907792" y="1097280"/>
            <a:ext cx="2926080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11430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역할 및 단위/키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4533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733"/>
                </a:solidFill>
              </a:rPr>
              <a:t>seoul_sales_raw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647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66666"/>
                </a:solidFill>
              </a:rPr>
              <a:t>원본 파일: 상권_매출.csv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7792" y="1563624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서울시 상권 분기별 매출 원천 데이터
(업종·행정동·요일·성별·연령 포함)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057400"/>
            <a:ext cx="5577840" cy="1371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09397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733"/>
                </a:solidFill>
              </a:rPr>
              <a:t>living_population_raw_2023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31343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66666"/>
                </a:solidFill>
              </a:rPr>
              <a:t>원본 파일: 상권_유동인구.csv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792" y="2112264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2023년 서울시 생활 유동인구 원천 데이터
(일자·시간대·행정동 단위)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606040"/>
            <a:ext cx="5577840" cy="1371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64261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733"/>
                </a:solidFill>
              </a:rPr>
              <a:t>living_population_raw_2024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86207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66666"/>
                </a:solidFill>
              </a:rPr>
              <a:t>원본 파일: 상권_유동인구.csv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07792" y="2660904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2024년 서울시 생활 유동인구 원천 데이터
(일자·시간대·행정동 단위)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154680"/>
            <a:ext cx="5577840" cy="1371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19125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733"/>
                </a:solidFill>
              </a:rPr>
              <a:t>living_population_raw_2025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41071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66666"/>
                </a:solidFill>
              </a:rPr>
              <a:t>원본 파일: 상권_유동인구.csv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07792" y="3209544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2025년 서울시 생활 유동인구 원천 데이터
(일자·시간대·행정동 단위)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703320"/>
            <a:ext cx="5577840" cy="1371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73989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733"/>
                </a:solidFill>
              </a:rPr>
              <a:t>admin_dong_raw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39593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66666"/>
                </a:solidFill>
              </a:rPr>
              <a:t>원본 파일: 행정동 코드 매핑 파일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7792" y="3758183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행정동 코드 ↔ 행정동명·구명 매핑
차원 테이블 생성의 원천 데이터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251959"/>
            <a:ext cx="5577840" cy="1371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0216" y="1261872"/>
            <a:ext cx="2267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</a:rPr>
              <a:t>데이터 적재 원칙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216" y="1719072"/>
            <a:ext cx="22677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5733"/>
                </a:solidFill>
              </a:rPr>
              <a:t>최소 가공 적재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0216" y="1975104"/>
            <a:ext cx="22677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</a:rPr>
              <a:t>원천 CSV 데이터를 컬럼명·타입 변환 없이
그대로 BigQuery에 적재하여
원본 데이터 보존 및 추적 가능성 확보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216" y="2724912"/>
            <a:ext cx="22677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5733"/>
                </a:solidFill>
              </a:rPr>
              <a:t>연도별 분리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0216" y="2980944"/>
            <a:ext cx="22677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</a:rPr>
              <a:t>유동인구 데이터는 연도별로 별도 테이블로
관리하여 파티션 효율성 및
증분 로딩 용이성 확보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0216" y="3749039"/>
            <a:ext cx="22677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5733"/>
                </a:solidFill>
              </a:rPr>
              <a:t>source() 매크로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216" y="4005072"/>
            <a:ext cx="22677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</a:rPr>
              <a:t>dbt source() 매크로를 통해
원천 테이블 참조를 표준화하고
데이터 리니지 자동 추적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709160"/>
            <a:ext cx="8001000" cy="3200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" y="4709160"/>
            <a:ext cx="8001000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9768"/>
            <a:ext cx="8001000" cy="566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996696"/>
            <a:ext cx="800100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</a:rPr>
              <a:t>Staging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2331720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14300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테이블명</a:t>
            </a:r>
          </a:p>
        </p:txBody>
      </p:sp>
      <p:sp>
        <p:nvSpPr>
          <p:cNvPr id="7" name="Rectangle 6"/>
          <p:cNvSpPr/>
          <p:nvPr/>
        </p:nvSpPr>
        <p:spPr>
          <a:xfrm>
            <a:off x="2907792" y="1097280"/>
            <a:ext cx="2926080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11430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역할 및 단위/키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4533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733"/>
                </a:solidFill>
              </a:rPr>
              <a:t>stg_seoul_sales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647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66666"/>
                </a:solidFill>
              </a:rPr>
              <a:t>Key: 기준_년분기 + 행정동코드 + 업종코드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7792" y="1563624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매출 데이터 정제 — 컬럼명 영문 표준화,
타입 변환(CAST), COALESCE(0) 결측치 처리.
source(seoul_sales_raw) 참조 · view 형태 적재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286000"/>
            <a:ext cx="5577840" cy="1371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32257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733"/>
                </a:solidFill>
              </a:rPr>
              <a:t>stg_living_population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54203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66666"/>
                </a:solidFill>
              </a:rPr>
              <a:t>Key: base_date + admin_dong_code + time_slot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792" y="2340864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유동인구 원천 데이터 정제 — 3개 연도
(2023·2024·2025) UNION ALL 통합.
컬럼 표준화 및 시간대 코드 정제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063240"/>
            <a:ext cx="5577840" cy="1371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09981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733"/>
                </a:solidFill>
              </a:rPr>
              <a:t>stg_living_population_gender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31927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66666"/>
                </a:solidFill>
              </a:rPr>
              <a:t>Key: base_date + admin_dong_code + gender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07792" y="3118104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성별 유동인구 분리 적재 — 원천의
남성·여성 컬럼을 Long Format으로 변환.
성별 분석 전용 뷰 제공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840480"/>
            <a:ext cx="5577840" cy="1371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216" y="1261872"/>
            <a:ext cx="2267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</a:rPr>
              <a:t>데이터 정규화 원칙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1719072"/>
            <a:ext cx="22677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5733"/>
                </a:solidFill>
              </a:rPr>
              <a:t>컬럼명 표준화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1975104"/>
            <a:ext cx="22677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</a:rPr>
              <a:t>한글 컬럼명을 영문 snake_case로 변환하여
다운스트림 호환성 및
코드 일관성 확보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6" y="2724912"/>
            <a:ext cx="22677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5733"/>
                </a:solidFill>
              </a:rPr>
              <a:t>Long Format 변환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0216" y="2980944"/>
            <a:ext cx="22677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</a:rPr>
              <a:t>분석 친화적인 구조로 데이터를 재구성.
성별·시간대 Wide → Long 변환으로
확장성 극대화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216" y="3749039"/>
            <a:ext cx="22677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5733"/>
                </a:solidFill>
              </a:rPr>
              <a:t>표준 키 할당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216" y="4005072"/>
            <a:ext cx="22677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</a:rPr>
              <a:t>행정동코드·분기·시간대를 공통 키로
설정하여 레이어 간
데이터 정합성 기반 마련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709160"/>
            <a:ext cx="8001000" cy="3200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4709160"/>
            <a:ext cx="8001000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9768"/>
            <a:ext cx="8001000" cy="566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996696"/>
            <a:ext cx="800100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</a:rPr>
              <a:t>Mart Layer  —  분석 테이블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78992"/>
            <a:ext cx="2331720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12471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테이블명</a:t>
            </a:r>
          </a:p>
        </p:txBody>
      </p:sp>
      <p:sp>
        <p:nvSpPr>
          <p:cNvPr id="7" name="Rectangle 6"/>
          <p:cNvSpPr/>
          <p:nvPr/>
        </p:nvSpPr>
        <p:spPr>
          <a:xfrm>
            <a:off x="2907792" y="1078992"/>
            <a:ext cx="2926080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112471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역할 및 단위/키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2704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733"/>
                </a:solidFill>
              </a:rPr>
              <a:t>dim_admin_dong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465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66666"/>
                </a:solidFill>
              </a:rPr>
              <a:t>Key: admin_dong_code (PK)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7792" y="1545336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행정동 코드 기준 차원 테이블
(행정동명·구코드·구명 매핑)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993391"/>
            <a:ext cx="5577840" cy="1371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029967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733"/>
                </a:solidFill>
              </a:rPr>
              <a:t>mart_kpi_sigungu_quarter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24942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66666"/>
                </a:solidFill>
              </a:rPr>
              <a:t>Key: sigungu_name + year + quarter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792" y="2048255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구별·분기별 KPI 집계
(총매출·1인당 매출·평균 유동인구)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496311"/>
            <a:ext cx="5577840" cy="1371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532887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733"/>
                </a:solidFill>
              </a:rPr>
              <a:t>mart_livingpop_seoul_quarter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75234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66666"/>
                </a:solidFill>
              </a:rPr>
              <a:t>Key: year + quarter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07792" y="2551175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서울 전체 분기별 평균 유동인구
집계 (도시 전체 트렌드 파악)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999231"/>
            <a:ext cx="5577840" cy="1371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035807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733"/>
                </a:solidFill>
              </a:rPr>
              <a:t>mart_livingpop_dong_quarter_gender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255263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66666"/>
                </a:solidFill>
              </a:rPr>
              <a:t>Key: admin_dong_code + year + quarter + gender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07792" y="3054095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행정동×분기×성별 유동인구 요약
(성별 분석용 집계 마트)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502151"/>
            <a:ext cx="5577840" cy="1371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538727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733"/>
                </a:solidFill>
              </a:rPr>
              <a:t>mart_livingpop_sigungu_quarter_time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3758183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66666"/>
                </a:solidFill>
              </a:rPr>
              <a:t>Key: sigungu_name + year + quarter + time_bucket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7792" y="3557015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구별·분기별·시간대별 유동인구 집계
(시간대 분석·피크 시간 파악)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005071"/>
            <a:ext cx="5577840" cy="1371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041647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733"/>
                </a:solidFill>
              </a:rPr>
              <a:t>mart_livingpop_sigungu_day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261103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66666"/>
                </a:solidFill>
              </a:rPr>
              <a:t>Key: sigungu_name + base_date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07792" y="4059935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구별 일별 평균 유동인구
(일별 추이·계절성 분석)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507991"/>
            <a:ext cx="5577840" cy="1371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0216" y="1261872"/>
            <a:ext cx="2267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</a:rPr>
              <a:t>분석 최적화 원칙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0216" y="1719072"/>
            <a:ext cx="22677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5733"/>
                </a:solidFill>
              </a:rPr>
              <a:t>차원 표준화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216" y="1975104"/>
            <a:ext cx="22677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</a:rPr>
              <a:t>dim_admin_dong을 통한
행정동 코드 마스터 관리로
데이터 일관성 확보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0216" y="2724912"/>
            <a:ext cx="22677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5733"/>
                </a:solidFill>
              </a:rPr>
              <a:t>집계 가속화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0216" y="2980944"/>
            <a:ext cx="22677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</a:rPr>
              <a:t>mart_ 테이블을 통해 복잡한
집계 연산을 사전 수행하여
대시보드 쿼리 성능 최적화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216" y="3749039"/>
            <a:ext cx="22677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5733"/>
                </a:solidFill>
              </a:rPr>
              <a:t>파티셔닝 적용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0216" y="4005072"/>
            <a:ext cx="22677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</a:rPr>
              <a:t>year 컬럼 기준 파티션 +
구명/행정동 클러스터링으로
BigQuery 스캔 비용 최소화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4709160"/>
            <a:ext cx="8001000" cy="3200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6928" y="4709160"/>
            <a:ext cx="8001000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9768"/>
            <a:ext cx="8001000" cy="566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996696"/>
            <a:ext cx="800100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</a:rPr>
              <a:t>Mart Layer  —  분석 테이블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78992"/>
            <a:ext cx="2331720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12471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테이블명</a:t>
            </a:r>
          </a:p>
        </p:txBody>
      </p:sp>
      <p:sp>
        <p:nvSpPr>
          <p:cNvPr id="7" name="Rectangle 6"/>
          <p:cNvSpPr/>
          <p:nvPr/>
        </p:nvSpPr>
        <p:spPr>
          <a:xfrm>
            <a:off x="2907792" y="1078992"/>
            <a:ext cx="2926080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112471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역할 및 단위/키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2704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733"/>
                </a:solidFill>
              </a:rPr>
              <a:t>mart_sales_seoul_quarter_industry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465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66666"/>
                </a:solidFill>
              </a:rPr>
              <a:t>Key: year + quarter + service_industry_name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7792" y="1545336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서울 전체·분기별·업종별 매출 집계
(업종 트렌드 및 시장 규모 파악)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993391"/>
            <a:ext cx="5577840" cy="1371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029967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733"/>
                </a:solidFill>
              </a:rPr>
              <a:t>mart_sales_sigungu_quarter_industry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24942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66666"/>
                </a:solidFill>
              </a:rPr>
              <a:t>Key: sigungu_name + year + quarter + service_industry_name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792" y="2048255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구별·분기별·업종별 매출 집계
(지역×업종 교차 분석)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496311"/>
            <a:ext cx="5577840" cy="1371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532887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733"/>
                </a:solidFill>
              </a:rPr>
              <a:t>mart_sales_sigungu_quarter_time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75234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66666"/>
                </a:solidFill>
              </a:rPr>
              <a:t>Key: sigungu_name + year + quarter + time_bucket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07792" y="2551175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구별·분기별·시간대별 매출 집계
(피크 시간대·심야 매출 분석)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999231"/>
            <a:ext cx="5577840" cy="1371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035807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733"/>
                </a:solidFill>
              </a:rPr>
              <a:t>mart_sales_dong_quarter_gender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255263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66666"/>
                </a:solidFill>
              </a:rPr>
              <a:t>Key: admin_dong_code + year + quarter + gender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07792" y="3054095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행정동×분기×성별 매출 집계
(성별 소비 패턴 분석)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502151"/>
            <a:ext cx="5577840" cy="1371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538727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733"/>
                </a:solidFill>
              </a:rPr>
              <a:t>mart_sales_dong_quarter_weektype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3758183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66666"/>
                </a:solidFill>
              </a:rPr>
              <a:t>Key: admin_dong_code + year + quarter + week_type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7792" y="3557015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행정동×분기×주중/주말 매출 집계
(요일 패턴·주말 상권 분석)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005071"/>
            <a:ext cx="5577840" cy="1371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041647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5733"/>
                </a:solidFill>
              </a:rPr>
              <a:t>mart_sales_vs_livingpop_weekday_quarter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261103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66666"/>
                </a:solidFill>
              </a:rPr>
              <a:t>Key: admin_dong_code + year + quarter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07792" y="4059935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</a:rPr>
              <a:t>행정동×분기 단위 매출 vs 유동인구 통합
(상관관계·1인당 매출 효율성 분석)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507991"/>
            <a:ext cx="5577840" cy="1371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0216" y="1261872"/>
            <a:ext cx="22677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</a:rPr>
              <a:t>통합 인사이트 원칙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0216" y="1719072"/>
            <a:ext cx="22677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5733"/>
                </a:solidFill>
              </a:rPr>
              <a:t>이종 데이터 결합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216" y="1975104"/>
            <a:ext cx="22677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</a:rPr>
              <a:t>매출 + 유동인구 데이터를
행정동·분기 키로 결합하여
다각도 상권 분석 지원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0216" y="2724912"/>
            <a:ext cx="22677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5733"/>
                </a:solidFill>
              </a:rPr>
              <a:t>SAFE_DIVIDE 적용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0216" y="2980944"/>
            <a:ext cx="22677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</a:rPr>
              <a:t>1인당 매출 등 나눗셈 지표에
SAFE_DIVIDE() 적용으로
제로 나눗셈 오류 방지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216" y="3749039"/>
            <a:ext cx="22677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5733"/>
                </a:solidFill>
              </a:rPr>
              <a:t>ref() 표준화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0216" y="4005072"/>
            <a:ext cx="22677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</a:rPr>
              <a:t>모든 mart 테이블은 dbt ref() 매크로를
통해 staging 참조.
자동 리니지 그래프 생성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4709160"/>
            <a:ext cx="8001000" cy="3200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6928" y="4709160"/>
            <a:ext cx="8001000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9768"/>
            <a:ext cx="8001000" cy="566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996696"/>
            <a:ext cx="800100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57200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</a:rPr>
              <a:t>Data Flow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429768"/>
            <a:ext cx="54864" cy="4279392"/>
          </a:xfrm>
          <a:prstGeom prst="rect">
            <a:avLst/>
          </a:prstGeom>
          <a:solidFill>
            <a:srgbClr val="FF5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81912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5733"/>
                </a:solidFill>
              </a:rPr>
              <a:t>유동인구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417320"/>
            <a:ext cx="1993392" cy="548640"/>
          </a:xfrm>
          <a:prstGeom prst="rect">
            <a:avLst/>
          </a:prstGeom>
          <a:solidFill>
            <a:srgbClr val="F9F9F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49047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living_population
raw_*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527048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5733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58768" y="1417320"/>
            <a:ext cx="1993392" cy="548640"/>
          </a:xfrm>
          <a:prstGeom prst="rect">
            <a:avLst/>
          </a:prstGeom>
          <a:solidFill>
            <a:srgbClr val="F9F9F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50207" y="149047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stg_living
population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1527048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5733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71616" y="1417320"/>
            <a:ext cx="1993392" cy="548640"/>
          </a:xfrm>
          <a:prstGeom prst="rect">
            <a:avLst/>
          </a:prstGeom>
          <a:solidFill>
            <a:srgbClr val="FF5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3055" y="149047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mart_livingpop_*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267711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5733"/>
                </a:solidFill>
              </a:rPr>
              <a:t>매출 데이터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0" y="2103120"/>
            <a:ext cx="1993392" cy="548640"/>
          </a:xfrm>
          <a:prstGeom prst="rect">
            <a:avLst/>
          </a:prstGeom>
          <a:solidFill>
            <a:srgbClr val="F9F9F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217627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seoul_sales_raw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212847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5733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58768" y="2103120"/>
            <a:ext cx="1993392" cy="548640"/>
          </a:xfrm>
          <a:prstGeom prst="rect">
            <a:avLst/>
          </a:prstGeom>
          <a:solidFill>
            <a:srgbClr val="F9F9F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0207" y="217627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stg_seoul_sales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2212847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5733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71616" y="2103120"/>
            <a:ext cx="1993392" cy="548640"/>
          </a:xfrm>
          <a:prstGeom prst="rect">
            <a:avLst/>
          </a:prstGeom>
          <a:solidFill>
            <a:srgbClr val="FF5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63055" y="217627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mart_sales_*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2953511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5733"/>
                </a:solidFill>
              </a:rPr>
              <a:t>행정동 코드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0" y="2788920"/>
            <a:ext cx="1993392" cy="548640"/>
          </a:xfrm>
          <a:prstGeom prst="rect">
            <a:avLst/>
          </a:prstGeom>
          <a:solidFill>
            <a:srgbClr val="F9F9F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0" y="286207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admin_dong_raw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2898647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5733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58768" y="2788920"/>
            <a:ext cx="1993392" cy="548640"/>
          </a:xfrm>
          <a:prstGeom prst="rect">
            <a:avLst/>
          </a:prstGeom>
          <a:solidFill>
            <a:srgbClr val="F9F9F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50207" y="286207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stg_living
population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70448" y="2898647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5733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71616" y="2788920"/>
            <a:ext cx="1993392" cy="548640"/>
          </a:xfrm>
          <a:prstGeom prst="rect">
            <a:avLst/>
          </a:prstGeom>
          <a:solidFill>
            <a:srgbClr val="FF5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63055" y="286207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dim_admin_dong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639311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5733"/>
                </a:solidFill>
              </a:rPr>
              <a:t>최종 통합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45920" y="3474720"/>
            <a:ext cx="1993392" cy="548640"/>
          </a:xfrm>
          <a:prstGeom prst="rect">
            <a:avLst/>
          </a:prstGeom>
          <a:solidFill>
            <a:srgbClr val="F9F9F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37360" y="354787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mart_livingpop_*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3584447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5733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58768" y="3474720"/>
            <a:ext cx="1993392" cy="548640"/>
          </a:xfrm>
          <a:prstGeom prst="rect">
            <a:avLst/>
          </a:prstGeom>
          <a:solidFill>
            <a:srgbClr val="F9F9F9"/>
          </a:solidFill>
          <a:ln w="63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50207" y="354787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mart_sales_*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70448" y="3584447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5733"/>
                </a:solidFill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71616" y="3474720"/>
            <a:ext cx="1993392" cy="548640"/>
          </a:xfrm>
          <a:prstGeom prst="rect">
            <a:avLst/>
          </a:prstGeom>
          <a:solidFill>
            <a:srgbClr val="FF5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63055" y="354787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mart_sales_vs
_livingpop_*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45920" y="1161288"/>
            <a:ext cx="19933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1A"/>
                </a:solidFill>
              </a:rPr>
              <a:t>🟤 Raw Layer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58768" y="1161288"/>
            <a:ext cx="19933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1A"/>
                </a:solidFill>
              </a:rPr>
              <a:t>🟡 Staging Layer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71616" y="1161288"/>
            <a:ext cx="19933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1A1A"/>
                </a:solidFill>
              </a:rPr>
              <a:t>🟢 Mart Layer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4160520"/>
            <a:ext cx="8001000" cy="521207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6928" y="4160520"/>
            <a:ext cx="54864" cy="521207"/>
          </a:xfrm>
          <a:prstGeom prst="rect">
            <a:avLst/>
          </a:prstGeom>
          <a:solidFill>
            <a:srgbClr val="FF5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4251960"/>
            <a:ext cx="7680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</a:rPr>
              <a:t>유기적인 데이터 결합: </a:t>
            </a:r>
            <a:r>
              <a:rPr sz="900" b="1">
                <a:solidFill>
                  <a:srgbClr val="333333"/>
                </a:solidFill>
              </a:rPr>
              <a:t>각 레이어 간 표준화된 인터페이스를 통해 원천 데이터가 최종 통합 마트로 변환됩니다. 특히 </a:t>
            </a:r>
            <a:r>
              <a:rPr sz="900" b="1">
                <a:solidFill>
                  <a:srgbClr val="1A1A1A"/>
                </a:solidFill>
              </a:rPr>
              <a:t>행정동코드·분기</a:t>
            </a:r>
            <a:r>
              <a:rPr sz="900" b="1">
                <a:solidFill>
                  <a:srgbClr val="333333"/>
                </a:solidFill>
              </a:rPr>
              <a:t>를 공통 키로 활용하여 이종 데이터 간 정합성을 확보합니다.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773168"/>
            <a:ext cx="8001000" cy="3200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66928" y="4773168"/>
            <a:ext cx="8001000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