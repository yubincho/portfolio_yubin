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6YPhUFAx8GvWl53Fjgh4MKwwk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714375" y="2000250"/>
            <a:ext cx="54474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731"/>
              <a:buFont typeface="Calibri"/>
              <a:buNone/>
            </a:pPr>
            <a:r>
              <a:rPr b="1" i="0" lang="en-US" sz="3731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프로젝트 테이블 구성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14375" y="2780342"/>
            <a:ext cx="4514850" cy="3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867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8"/>
              <a:buFont typeface="Calibri"/>
              <a:buNone/>
            </a:pPr>
            <a:r>
              <a:rPr b="1" i="0" lang="en-US" sz="1808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(Raw → Staging → Analytics)</a:t>
            </a:r>
            <a:endParaRPr b="0" i="0" sz="180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14375" y="4086225"/>
            <a:ext cx="156146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14375" y="4279106"/>
            <a:ext cx="108978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Seoul Commercial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14375" y="4454128"/>
            <a:ext cx="48890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490155" y="4086225"/>
            <a:ext cx="14450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490155" y="4279106"/>
            <a:ext cx="118223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Architecture &amp;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490155" y="4454128"/>
            <a:ext cx="276206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Flow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149514" y="4086225"/>
            <a:ext cx="1079711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149514" y="4279106"/>
            <a:ext cx="495709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149514" y="4454128"/>
            <a:ext cx="58559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0" i="0" lang="en-US" sz="94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Improved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1315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571500" y="428625"/>
            <a:ext cx="8001000" cy="63043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71500" y="1037630"/>
            <a:ext cx="8001000" cy="214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Staging Layer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71500" y="1394817"/>
            <a:ext cx="2418438" cy="47505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71500" y="1394817"/>
            <a:ext cx="2418438" cy="4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테이블명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989938" y="1394817"/>
            <a:ext cx="2882224" cy="47505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989938" y="1394817"/>
            <a:ext cx="2882224" cy="475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역할 및 단위/키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4375" y="2021681"/>
            <a:ext cx="177798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stg_metro_people_snapshot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14375" y="2241352"/>
            <a:ext cx="2132688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행정동코드 + 기준일자 + 시간대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989938" y="1869877"/>
            <a:ext cx="2882224" cy="6822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서울시 유동인구 스냅샷 원천 적재 (일자/시간대 단위)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4375" y="2711053"/>
            <a:ext cx="151567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stg_seoul_sales_quarter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4375" y="2930723"/>
            <a:ext cx="2132688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기준_년분기 + 행정동 + 업종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989938" y="2552105"/>
            <a:ext cx="2882224" cy="6893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서울시 분기별 매출 원천 적재 (요일·성별·연령 포함)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4375" y="3400425"/>
            <a:ext cx="150590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stg_seoul_vacancy_long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14375" y="3620095"/>
            <a:ext cx="2132688" cy="321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building_type + 지역 + period + metric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989938" y="3241477"/>
            <a:ext cx="2882224" cy="850106"/>
          </a:xfrm>
          <a:prstGeom prst="rect">
            <a:avLst/>
          </a:prstGeom>
          <a:noFill/>
          <a:ln>
            <a:noFill/>
          </a:ln>
        </p:spPr>
        <p:txBody>
          <a:bodyPr anchorCtr="0" anchor="ctr" bIns="170050" lIns="170050" spcFirstLastPara="1" rIns="170050" wrap="square" tIns="17005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임대료/공실률 통계 데이터를 Long 형태로 정규화 적재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00788" y="1323380"/>
            <a:ext cx="2271713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데이터 정규화 원칙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300788" y="1898452"/>
            <a:ext cx="22717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Raw Data 적재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300788" y="2178844"/>
            <a:ext cx="2240291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원천 CSV/Excel 데이터를 최소 가공하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300788" y="2407444"/>
            <a:ext cx="129447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여 시스템 안정성 확보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300788" y="2834283"/>
            <a:ext cx="22717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Long Format 변환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300800" y="3114675"/>
            <a:ext cx="23403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 친화적인 구조로 데이터를 재구성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300804" y="3343275"/>
            <a:ext cx="1515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하여 확장성 극대화  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300788" y="3770114"/>
            <a:ext cx="22717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표준 키 할당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300788" y="4050506"/>
            <a:ext cx="215741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행정동 및 분기 코드를 기준으로 데이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00788" y="4279106"/>
            <a:ext cx="1163008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터 정합성 기반 마련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71500" y="4705945"/>
            <a:ext cx="8001000" cy="314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71500" y="4705945"/>
            <a:ext cx="800100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21315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571500" y="428625"/>
            <a:ext cx="8001000" cy="63043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71500" y="1037630"/>
            <a:ext cx="8001000" cy="214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Analytics Layer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71500" y="1337667"/>
            <a:ext cx="2288009" cy="36075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71500" y="1337667"/>
            <a:ext cx="2288009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테이블명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859509" y="1337667"/>
            <a:ext cx="3012653" cy="36075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859509" y="1337667"/>
            <a:ext cx="3012653" cy="360759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역할 및 단위/키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57225" y="1793081"/>
            <a:ext cx="1088501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dim_admin_dong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57225" y="2012752"/>
            <a:ext cx="2116559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행정동코드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859509" y="1698427"/>
            <a:ext cx="3012653" cy="567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행정동 코드 기준 차원 테이블 (행정구/동명 매핑)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57225" y="2368153"/>
            <a:ext cx="1817080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agg_livingpop_dong_quarter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7225" y="2587823"/>
            <a:ext cx="2116559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행정동코드 + 기준분기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859509" y="2266355"/>
            <a:ext cx="3012653" cy="5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행정동×분기 유동인구 요약 (평균/품질지표 포함)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57225" y="2943225"/>
            <a:ext cx="161635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mart_sales_dong_quarter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57225" y="3162895"/>
            <a:ext cx="2116559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행정동코드 + 기준분기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859509" y="2841427"/>
            <a:ext cx="3012653" cy="5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행정동×분기 단위 매출 집계 마트 (업종 합산 총매출)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7225" y="3518297"/>
            <a:ext cx="2047912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9491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mart_commercial_dong_quarter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57225" y="3737967"/>
            <a:ext cx="2116559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7111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Key: 행정동코드 + 기준분기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859509" y="3416498"/>
            <a:ext cx="3012653" cy="575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2100" lIns="102100" spcFirstLastPara="1" rIns="102100" wrap="square" tIns="102100">
            <a:spAutoFit/>
          </a:bodyPr>
          <a:lstStyle/>
          <a:p>
            <a:pPr indent="0" lvl="0" marL="0" marR="0" rtl="0" algn="l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42"/>
              <a:buFont typeface="Calibri"/>
              <a:buNone/>
            </a:pPr>
            <a:r>
              <a:rPr b="1" i="0" lang="en-US" sz="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통합 마트 (유동인구 + 매출 결합)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300788" y="1266230"/>
            <a:ext cx="2271713" cy="360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0050" spcFirstLastPara="1" rIns="0" wrap="square" tIns="85075">
            <a:spAutoFit/>
          </a:bodyPr>
          <a:lstStyle/>
          <a:p>
            <a:pPr indent="0" lvl="0" marL="0" marR="0" rtl="0" algn="l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97"/>
              <a:buFont typeface="Calibri"/>
              <a:buNone/>
            </a:pPr>
            <a:r>
              <a:rPr b="1" i="0" lang="en-US" sz="139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분석 최적화 원칙</a:t>
            </a:r>
            <a:endParaRPr b="0" i="0" sz="13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300788" y="1841302"/>
            <a:ext cx="22717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차원 표준화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300788" y="2121694"/>
            <a:ext cx="216514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`dim_` 테이블을 통한 행정동 코드 마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300788" y="2350294"/>
            <a:ext cx="1857375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스터 관리로 데이터 일관성 확보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300788" y="2777133"/>
            <a:ext cx="22717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집계 가속화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300788" y="3057525"/>
            <a:ext cx="2236440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`agg_` 및 `mart_` 테이블을 통해 복잡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300800" y="3286125"/>
            <a:ext cx="22716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한 연산을 사전 수행하여 쿼리 성능 최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6300807" y="3514725"/>
            <a:ext cx="4149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적화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300788" y="3941564"/>
            <a:ext cx="22717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2370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통합 인사이트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300801" y="4221951"/>
            <a:ext cx="2288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최종 마트 레이어에서 이종 데이터를 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300804" y="4450550"/>
            <a:ext cx="20478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결합하여 다각도 분석 지원   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571500" y="4877395"/>
            <a:ext cx="8001000" cy="314325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71500" y="4877395"/>
            <a:ext cx="800100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000000"/>
                </a:solidFill>
              </a:rP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571500" y="428625"/>
            <a:ext cx="8001000" cy="630436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571500" y="1037630"/>
            <a:ext cx="8001000" cy="21431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71500" y="428625"/>
            <a:ext cx="80010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Flow Process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71500" y="1521619"/>
            <a:ext cx="10001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유동인구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750219" y="1394817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750219" y="1394817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Raw Files (CSV)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714750" y="1459111"/>
            <a:ext cx="228628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121972" y="1394817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121972" y="1394817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stg_metro_people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086503" y="1459111"/>
            <a:ext cx="228628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493725" y="1394817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493725" y="1394817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agg_livingpop_dong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71500" y="2239566"/>
            <a:ext cx="10001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매출 데이터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750219" y="2112764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750219" y="2112764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Raw Files (CSV)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714750" y="2177058"/>
            <a:ext cx="228628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121972" y="2112764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121972" y="2112764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stg_seoul_sales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086503" y="2177058"/>
            <a:ext cx="228628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93725" y="2112764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493725" y="2112764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mart_sales_dong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71500" y="2957513"/>
            <a:ext cx="10001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최종 통합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750219" y="2830711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750219" y="2830711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agg_livingpop_dong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714750" y="2904827"/>
            <a:ext cx="133973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110600" y="2834263"/>
            <a:ext cx="1785900" cy="460800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110588" y="2848513"/>
            <a:ext cx="1785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mart_sales_dong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069998" y="2898580"/>
            <a:ext cx="2286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470945" y="2844999"/>
            <a:ext cx="1860000" cy="432300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470950" y="2844925"/>
            <a:ext cx="1785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mart_commercial_dong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71500" y="3682603"/>
            <a:ext cx="1000125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공실률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750219" y="3555802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750219" y="3555802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Raw Files (Excel)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714750" y="3620095"/>
            <a:ext cx="228628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121972" y="3555802"/>
            <a:ext cx="1785938" cy="460772"/>
          </a:xfrm>
          <a:prstGeom prst="rect">
            <a:avLst/>
          </a:prstGeom>
          <a:solidFill>
            <a:srgbClr val="F9F9F9"/>
          </a:solidFill>
          <a:ln cap="flat" cmpd="sng" w="1827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4121972" y="3555802"/>
            <a:ext cx="1785938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stg_seoul_vacancy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086503" y="3620095"/>
            <a:ext cx="228628" cy="332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5733"/>
              </a:buClr>
              <a:buSzPts val="1602"/>
              <a:buFont typeface="Calibri"/>
              <a:buNone/>
            </a:pPr>
            <a:r>
              <a:rPr b="1" i="0" lang="en-US" sz="1602" u="none" cap="none" strike="noStrike">
                <a:solidFill>
                  <a:srgbClr val="FF5733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493725" y="3548658"/>
            <a:ext cx="1785938" cy="475059"/>
          </a:xfrm>
          <a:prstGeom prst="rect">
            <a:avLst/>
          </a:prstGeom>
          <a:solidFill>
            <a:srgbClr val="F9F9F9">
              <a:alpha val="60000"/>
            </a:srgbClr>
          </a:solidFill>
          <a:ln cap="flat" cmpd="sng" w="18275">
            <a:solidFill>
              <a:srgbClr val="1A1A1A">
                <a:alpha val="60000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493725" y="3548658"/>
            <a:ext cx="1785938" cy="475059"/>
          </a:xfrm>
          <a:prstGeom prst="rect">
            <a:avLst/>
          </a:prstGeom>
          <a:noFill/>
          <a:ln>
            <a:noFill/>
          </a:ln>
        </p:spPr>
        <p:txBody>
          <a:bodyPr anchorCtr="0" anchor="t" bIns="153025" lIns="212575" spcFirstLastPara="1" rIns="212575" wrap="square" tIns="153025">
            <a:spAutoFit/>
          </a:bodyPr>
          <a:lstStyle/>
          <a:p>
            <a:pPr indent="0" lvl="0" marL="0" marR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지역 단위 매핑 검토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71500" y="4257675"/>
            <a:ext cx="7786800" cy="82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785813" y="4471988"/>
            <a:ext cx="7572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유기적인 데이터 결합: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각 레이어 간의 표준화된 인터페이스를 통해 원천 데이터가 최종 통합 마트로 변환됩니다. 특히 </a:t>
            </a:r>
            <a:r>
              <a:rPr b="1" i="0" lang="en-US" sz="987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행정동 및 분기 코드</a:t>
            </a:r>
            <a:r>
              <a:rPr b="0" i="0" lang="en-US" sz="10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를 공통 키로 활용하여 이종 데이터 간의 정합성을 확보했습니다.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71500" y="4257650"/>
            <a:ext cx="57300" cy="885900"/>
          </a:xfrm>
          <a:prstGeom prst="rect">
            <a:avLst/>
          </a:prstGeom>
          <a:solidFill>
            <a:srgbClr val="FF5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2026-01-17T04:08:19Z</dcterms:created>
  <dc:creator>PptxGenJS</dc:creator>
</cp:coreProperties>
</file>